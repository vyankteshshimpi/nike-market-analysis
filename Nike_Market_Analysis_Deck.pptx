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9"/>
  </p:normalViewPr>
  <p:slideViewPr>
    <p:cSldViewPr snapToGrid="0" snapToObjects="1">
      <p:cViewPr varScale="1">
        <p:scale>
          <a:sx n="119" d="100"/>
          <a:sy n="119" d="100"/>
        </p:scale>
        <p:origin x="22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 rot="19800000">
            <a:off x="-274320" y="-457200"/>
            <a:ext cx="2011680" cy="3657600"/>
          </a:xfrm>
          <a:prstGeom prst="parallelogram">
            <a:avLst/>
          </a:prstGeom>
          <a:solidFill>
            <a:srgbClr val="2E5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 rot="19800000">
            <a:off x="182880" y="-274320"/>
            <a:ext cx="1645920" cy="2926080"/>
          </a:xfrm>
          <a:prstGeom prst="parallelogram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 rot="19800000">
            <a:off x="10058400" y="2560320"/>
            <a:ext cx="1371600" cy="2560320"/>
          </a:xfrm>
          <a:prstGeom prst="parallelogram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 rot="19800000">
            <a:off x="10607040" y="3200400"/>
            <a:ext cx="1097280" cy="2011680"/>
          </a:xfrm>
          <a:prstGeom prst="parallelogram">
            <a:avLst/>
          </a:prstGeom>
          <a:solidFill>
            <a:srgbClr val="2E5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0" y="256032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0" i="0">
                <a:solidFill>
                  <a:srgbClr val="FFFFFF"/>
                </a:solidFill>
                <a:latin typeface="Calibri"/>
              </a:rPr>
              <a:t>Sole Survivor?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749039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Calibri"/>
              </a:rPr>
              <a:t>A Data-Driven Analysis of Nike's Market Position
and a Strategy to Reclaim Generation 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Nike Product Analytics Team  ·  April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 rot="19800000">
            <a:off x="-274320" y="-457200"/>
            <a:ext cx="2011680" cy="3657600"/>
          </a:xfrm>
          <a:prstGeom prst="parallelogram">
            <a:avLst/>
          </a:prstGeom>
          <a:solidFill>
            <a:srgbClr val="2E5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 rot="19800000">
            <a:off x="182880" y="-274320"/>
            <a:ext cx="1645920" cy="2926080"/>
          </a:xfrm>
          <a:prstGeom prst="parallelogram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The Ground Is Shifting Under Nike's Feet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137160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7DC4B4"/>
                </a:solidFill>
                <a:latin typeface="Calibri"/>
              </a:rPr>
              <a:t>-2%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Nike 5yr search interest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1463040"/>
            <a:ext cx="3657600" cy="137160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15968" y="15087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DC4B4"/>
                </a:solidFill>
                <a:latin typeface="Calibri"/>
              </a:rPr>
              <a:t>+138–183%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Challenger brand 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82712" y="1463040"/>
            <a:ext cx="3657600" cy="137160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9872" y="15087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7878C8"/>
                </a:solidFill>
                <a:latin typeface="Calibri"/>
              </a:rPr>
              <a:t>-10%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Nike revenue growth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17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  <a:latin typeface="Calibri"/>
              </a:rPr>
              <a:t>For the first time in decades, Nike is the only major athletic brand that is shrinking.</a:t>
            </a:r>
          </a:p>
        </p:txBody>
      </p:sp>
      <p:pic>
        <p:nvPicPr>
          <p:cNvPr id="16" name="Picture 15" descr="01_brand_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383280"/>
            <a:ext cx="114300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 rot="19800000">
            <a:off x="-274320" y="-457200"/>
            <a:ext cx="2011680" cy="3657600"/>
          </a:xfrm>
          <a:prstGeom prst="parallelogram">
            <a:avLst/>
          </a:prstGeom>
          <a:solidFill>
            <a:srgbClr val="2E5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 rot="19800000">
            <a:off x="182880" y="-274320"/>
            <a:ext cx="1645920" cy="2926080"/>
          </a:xfrm>
          <a:prstGeom prst="parallelogram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The Global Athletic Footwear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1207" y="1353312"/>
            <a:ext cx="109728" cy="109728"/>
          </a:xfrm>
          <a:prstGeom prst="rect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298448"/>
            <a:ext cx="4983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Global market: $115B in 2024  →  projected $200B by 2030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066544"/>
            <a:ext cx="109728" cy="109728"/>
          </a:xfrm>
          <a:prstGeom prst="rect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011680"/>
            <a:ext cx="4983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Nike market share: ~27% — down from 35% in 2019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2779776"/>
            <a:ext cx="109728" cy="109728"/>
          </a:xfrm>
          <a:prstGeom prst="rect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724912"/>
            <a:ext cx="4983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Fastest growing: Performance Running &amp; Lifestyle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3493008"/>
            <a:ext cx="109728" cy="109728"/>
          </a:xfrm>
          <a:prstGeom prst="rect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438144"/>
            <a:ext cx="4983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Key challengers: New Balance, Hoka, On Running, Adidas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44568"/>
            <a:ext cx="5486400" cy="594360"/>
          </a:xfrm>
          <a:prstGeom prst="rect">
            <a:avLst/>
          </a:prstGeom>
          <a:solidFill>
            <a:srgbClr val="78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56285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Nike’s share of a GROWING market is falling — a compounding crisis.</a:t>
            </a:r>
          </a:p>
        </p:txBody>
      </p:sp>
      <p:pic>
        <p:nvPicPr>
          <p:cNvPr id="17" name="Picture 16" descr="02_2024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97280"/>
            <a:ext cx="56692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 rot="19800000">
            <a:off x="-274320" y="-457200"/>
            <a:ext cx="2011680" cy="3657600"/>
          </a:xfrm>
          <a:prstGeom prst="parallelogram">
            <a:avLst/>
          </a:prstGeom>
          <a:solidFill>
            <a:srgbClr val="2E5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 rot="19800000">
            <a:off x="182880" y="-274320"/>
            <a:ext cx="1645920" cy="2926080"/>
          </a:xfrm>
          <a:prstGeom prst="parallelogram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Meet the Brands Eating Nike's Lunch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3657600" cy="512064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657600" cy="38100"/>
          </a:xfrm>
          <a:prstGeom prst="rect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DC4B4"/>
                </a:solidFill>
                <a:latin typeface="Calibri"/>
              </a:rPr>
              <a:t>NEW 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+183%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search interest (5yr)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44952"/>
            <a:ext cx="3383280" cy="18288"/>
          </a:xfrm>
          <a:prstGeom prst="rect">
            <a:avLst/>
          </a:prstGeom>
          <a:solidFill>
            <a:srgbClr val="2E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DC4B4"/>
                </a:solidFill>
                <a:latin typeface="Calibri"/>
              </a:rPr>
              <a:t>$3.3B → $7.0B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935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3383280" cy="18288"/>
          </a:xfrm>
          <a:prstGeom prst="rect">
            <a:avLst/>
          </a:prstGeom>
          <a:solidFill>
            <a:srgbClr val="2E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98678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  <a:latin typeface="Calibri"/>
              </a:rPr>
              <a:t>Owns the GenZ casual space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280160"/>
            <a:ext cx="3657600" cy="512064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70248" y="1280160"/>
            <a:ext cx="3657600" cy="38100"/>
          </a:xfrm>
          <a:prstGeom prst="rect">
            <a:avLst/>
          </a:prstGeom>
          <a:solidFill>
            <a:srgbClr val="2E5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07408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78C8"/>
                </a:solidFill>
                <a:latin typeface="Calibri"/>
              </a:rPr>
              <a:t>HOKA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17830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+160%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697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search interest (5yr)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8" y="3044952"/>
            <a:ext cx="3383280" cy="18288"/>
          </a:xfrm>
          <a:prstGeom prst="rect">
            <a:avLst/>
          </a:prstGeom>
          <a:solidFill>
            <a:srgbClr val="2E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07408" y="3108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878C8"/>
                </a:solidFill>
                <a:latin typeface="Calibri"/>
              </a:rPr>
              <a:t>$3.2B → $5.0B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35935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931920"/>
            <a:ext cx="3383280" cy="18288"/>
          </a:xfrm>
          <a:prstGeom prst="rect">
            <a:avLst/>
          </a:prstGeom>
          <a:solidFill>
            <a:srgbClr val="2E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07408" y="398678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  <a:latin typeface="Calibri"/>
              </a:rPr>
              <a:t>Owns performance running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1312" y="1280160"/>
            <a:ext cx="3657600" cy="512064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11312" y="1280160"/>
            <a:ext cx="3657600" cy="38100"/>
          </a:xfrm>
          <a:prstGeom prst="rect">
            <a:avLst/>
          </a:prstGeom>
          <a:solidFill>
            <a:srgbClr val="78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48472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78C8"/>
                </a:solidFill>
                <a:latin typeface="Calibri"/>
              </a:rPr>
              <a:t>ON RUNNING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17830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+138%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2697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search interest (5yr)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48472" y="3044952"/>
            <a:ext cx="3383280" cy="18288"/>
          </a:xfrm>
          <a:prstGeom prst="rect">
            <a:avLst/>
          </a:prstGeom>
          <a:solidFill>
            <a:srgbClr val="2E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8472" y="3108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878C8"/>
                </a:solidFill>
                <a:latin typeface="Calibri"/>
              </a:rPr>
              <a:t>$1.2B → $3.0B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35935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revenue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48472" y="3931920"/>
            <a:ext cx="3383280" cy="18288"/>
          </a:xfrm>
          <a:prstGeom prst="rect">
            <a:avLst/>
          </a:prstGeom>
          <a:solidFill>
            <a:srgbClr val="2E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48472" y="398678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  <a:latin typeface="Calibri"/>
              </a:rPr>
              <a:t>Owns premium aspirational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All three grew revenue 58–147% while Nike declined.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 rot="19800000">
            <a:off x="-274320" y="-457200"/>
            <a:ext cx="2011680" cy="3657600"/>
          </a:xfrm>
          <a:prstGeom prst="parallelogram">
            <a:avLst/>
          </a:prstGeom>
          <a:solidFill>
            <a:srgbClr val="2E5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 rot="19800000">
            <a:off x="182880" y="-274320"/>
            <a:ext cx="1645920" cy="2926080"/>
          </a:xfrm>
          <a:prstGeom prst="parallelogram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Nike By The Numbers: A Brand in Decline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029200" cy="475488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Revenue is shrinking.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Nike posted -10% revenue growth in FY2025 — its steepest decline in over a decade. Every challenger brand grew 15–30% in the same period.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Client Implications: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·  Nike is losing ground in its core markets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76472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·  Challengers are accelerating while Nike retreats</a:t>
            </a:r>
          </a:p>
        </p:txBody>
      </p:sp>
      <p:pic>
        <p:nvPicPr>
          <p:cNvPr id="12" name="Picture 11" descr="04_revenue_growth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88720"/>
            <a:ext cx="6400800" cy="47548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65760" y="6126480"/>
            <a:ext cx="11430000" cy="594360"/>
          </a:xfrm>
          <a:prstGeom prst="rect">
            <a:avLst/>
          </a:prstGeom>
          <a:solidFill>
            <a:srgbClr val="2E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14476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Nike crossed below 0% growth in 2024 — the only brand in the room going backwards.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 rot="19800000">
            <a:off x="-274320" y="-457200"/>
            <a:ext cx="2011680" cy="3657600"/>
          </a:xfrm>
          <a:prstGeom prst="parallelogram">
            <a:avLst/>
          </a:prstGeom>
          <a:solidFill>
            <a:srgbClr val="2E5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 rot="19800000">
            <a:off x="182880" y="-274320"/>
            <a:ext cx="1645920" cy="2926080"/>
          </a:xfrm>
          <a:prstGeom prst="parallelogram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What Consumers Are Actually Saying</a:t>
            </a:r>
          </a:p>
        </p:txBody>
      </p:sp>
      <p:pic>
        <p:nvPicPr>
          <p:cNvPr id="6" name="Picture 5" descr="05_sentim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DC4B4"/>
                </a:solidFill>
                <a:latin typeface="Calibri"/>
              </a:rPr>
              <a:t>KEY FINDING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508760"/>
            <a:ext cx="4480560" cy="82296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79" y="1508760"/>
            <a:ext cx="54864" cy="822960"/>
          </a:xfrm>
          <a:prstGeom prst="rect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5544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Nike is the ONLY brand with negative consumer sentiment.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468880"/>
            <a:ext cx="4480560" cy="77724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24871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878C8"/>
                </a:solidFill>
                <a:latin typeface="Calibri"/>
              </a:rPr>
              <a:t>-0.372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Nike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3337560"/>
            <a:ext cx="4480560" cy="777240"/>
          </a:xfrm>
          <a:prstGeom prst="rect">
            <a:avLst/>
          </a:prstGeom>
          <a:solidFill>
            <a:srgbClr val="222B3D"/>
          </a:solidFill>
          <a:ln w="12700">
            <a:solidFill>
              <a:srgbClr val="7D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3355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DC4B4"/>
                </a:solidFill>
                <a:latin typeface="Calibri"/>
              </a:rPr>
              <a:t>+0.833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520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New 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297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Reddit, Amazon Reviews, Running Forums · 38 themes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 rot="19800000">
            <a:off x="-274320" y="-457200"/>
            <a:ext cx="2011680" cy="3657600"/>
          </a:xfrm>
          <a:prstGeom prst="parallelogram">
            <a:avLst/>
          </a:prstGeom>
          <a:solidFill>
            <a:srgbClr val="2E5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 rot="19800000">
            <a:off x="182880" y="-274320"/>
            <a:ext cx="1645920" cy="2926080"/>
          </a:xfrm>
          <a:prstGeom prst="parallelogram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365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Category-by-Category: Where Nike Is Failing</a:t>
            </a:r>
          </a:p>
        </p:txBody>
      </p:sp>
      <p:pic>
        <p:nvPicPr>
          <p:cNvPr id="6" name="Picture 5" descr="06_sentime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4663440"/>
            <a:ext cx="11430000" cy="50292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4663440"/>
            <a:ext cx="54864" cy="502920"/>
          </a:xfrm>
          <a:prstGeom prst="rect">
            <a:avLst/>
          </a:prstGeom>
          <a:solidFill>
            <a:srgbClr val="78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70915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78C8"/>
                </a:solidFill>
                <a:latin typeface="Calibri"/>
              </a:rPr>
              <a:t>GenZ Appeal  -0.51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470915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GenZ sees Nike as their parents’ brand — #1 pain point by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257800"/>
            <a:ext cx="11430000" cy="50292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5257800"/>
            <a:ext cx="54864" cy="502920"/>
          </a:xfrm>
          <a:prstGeom prst="rect">
            <a:avLst/>
          </a:prstGeom>
          <a:solidFill>
            <a:srgbClr val="78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78C8"/>
                </a:solidFill>
                <a:latin typeface="Calibri"/>
              </a:rPr>
              <a:t>Availability  -1.00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5303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Bots and resellers destroyed the community drop culture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852160"/>
            <a:ext cx="11430000" cy="50292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5852160"/>
            <a:ext cx="54864" cy="502920"/>
          </a:xfrm>
          <a:prstGeom prst="rect">
            <a:avLst/>
          </a:prstGeom>
          <a:solidFill>
            <a:srgbClr val="78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5897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78C8"/>
                </a:solidFill>
                <a:latin typeface="Calibri"/>
              </a:rPr>
              <a:t>Pricing  -0.38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5897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Too expensive for the quality consumers are getting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 rot="19800000">
            <a:off x="-274320" y="-457200"/>
            <a:ext cx="2011680" cy="3657600"/>
          </a:xfrm>
          <a:prstGeom prst="parallelogram">
            <a:avLst/>
          </a:prstGeom>
          <a:solidFill>
            <a:srgbClr val="2E5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 rot="19800000">
            <a:off x="182880" y="-274320"/>
            <a:ext cx="1645920" cy="2926080"/>
          </a:xfrm>
          <a:prstGeom prst="parallelogram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365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The Opportunity: Nike Is in the Wrong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9601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  <a:latin typeface="Calibri"/>
              </a:rPr>
              <a:t>Every competitor has moved to the Win Zone. Nike sits alone in the Danger Zone.</a:t>
            </a:r>
          </a:p>
        </p:txBody>
      </p:sp>
      <p:pic>
        <p:nvPicPr>
          <p:cNvPr id="7" name="Picture 6" descr="07_brand_positioning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155680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2819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DC4B4"/>
                </a:solidFill>
                <a:latin typeface="Calibri"/>
              </a:rPr>
              <a:t>Path forward: Earn back cultural authenticity — the one thing money alone cannot buy.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 rot="19800000">
            <a:off x="-274320" y="-457200"/>
            <a:ext cx="2011680" cy="3657600"/>
          </a:xfrm>
          <a:prstGeom prst="parallelogram">
            <a:avLst/>
          </a:prstGeom>
          <a:solidFill>
            <a:srgbClr val="2E5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 rot="19800000">
            <a:off x="182880" y="-274320"/>
            <a:ext cx="1645920" cy="2926080"/>
          </a:xfrm>
          <a:prstGeom prst="parallelogram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365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“Nike Reborn” — A 3-Pillar GenZ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9601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C4B4"/>
                </a:solidFill>
                <a:latin typeface="Calibri"/>
              </a:rPr>
              <a:t>Data-Driven.  Culture-First.  Community-Led.</a:t>
            </a:r>
          </a:p>
        </p:txBody>
      </p:sp>
      <p:pic>
        <p:nvPicPr>
          <p:cNvPr id="7" name="Picture 6" descr="08_strategy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457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6172200"/>
            <a:ext cx="3657600" cy="502920"/>
          </a:xfrm>
          <a:prstGeom prst="rect">
            <a:avLst/>
          </a:prstGeom>
          <a:solidFill>
            <a:srgbClr val="78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61904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Community-First Drops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3087" y="6172200"/>
            <a:ext cx="3657600" cy="502920"/>
          </a:xfrm>
          <a:prstGeom prst="rect">
            <a:avLst/>
          </a:prstGeom>
          <a:solidFill>
            <a:srgbClr val="78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33087" y="61904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GenZ Co-Creation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6172200"/>
            <a:ext cx="3657600" cy="502920"/>
          </a:xfrm>
          <a:prstGeom prst="rect">
            <a:avLst/>
          </a:prstGeom>
          <a:solidFill>
            <a:srgbClr val="78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61904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Cultural Partnerships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 rot="19800000">
            <a:off x="-274320" y="-457200"/>
            <a:ext cx="2011680" cy="3657600"/>
          </a:xfrm>
          <a:prstGeom prst="parallelogram">
            <a:avLst/>
          </a:prstGeom>
          <a:solidFill>
            <a:srgbClr val="2E5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 rot="19800000">
            <a:off x="182880" y="-274320"/>
            <a:ext cx="1645920" cy="2926080"/>
          </a:xfrm>
          <a:prstGeom prst="parallelogram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365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If We Execute: A 3-Year Roadmap Back to Growth</a:t>
            </a:r>
          </a:p>
        </p:txBody>
      </p:sp>
      <p:pic>
        <p:nvPicPr>
          <p:cNvPr id="6" name="Picture 5" descr="09_projected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3383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4617720"/>
            <a:ext cx="3657600" cy="123444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4617720"/>
            <a:ext cx="3657600" cy="38100"/>
          </a:xfrm>
          <a:prstGeom prst="rect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7365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GenZ Search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DC4B4"/>
                </a:solidFill>
                <a:latin typeface="Calibri"/>
              </a:rPr>
              <a:t>30 → 72  (+140%)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087" y="4617720"/>
            <a:ext cx="3657600" cy="123444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33087" y="4617720"/>
            <a:ext cx="3657600" cy="38100"/>
          </a:xfrm>
          <a:prstGeom prst="rect">
            <a:avLst/>
          </a:prstGeom>
          <a:solidFill>
            <a:srgbClr val="78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0248" y="47365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Consumer Sentiment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5120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878C8"/>
                </a:solidFill>
                <a:latin typeface="Calibri"/>
              </a:rPr>
              <a:t>-0.37 → +0.45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6992" y="4617720"/>
            <a:ext cx="3657600" cy="1234440"/>
          </a:xfrm>
          <a:prstGeom prst="rect">
            <a:avLst/>
          </a:prstGeom>
          <a:solidFill>
            <a:srgbClr val="222B3D"/>
          </a:solidFill>
          <a:ln w="12700">
            <a:solidFill>
              <a:srgbClr val="2E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36992" y="4617720"/>
            <a:ext cx="3657600" cy="38100"/>
          </a:xfrm>
          <a:prstGeom prst="rect">
            <a:avLst/>
          </a:prstGeom>
          <a:solidFill>
            <a:srgbClr val="7D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74152" y="47365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Revenue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5120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DC4B4"/>
                </a:solidFill>
                <a:latin typeface="Calibri"/>
              </a:rPr>
              <a:t>-10% → +15%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9893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  <a:latin typeface="Calibri"/>
              </a:rPr>
              <a:t>“Nike doesn’t need a new shoe. It needs a new relationship with the next generation.”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484</Words>
  <Application>Microsoft Macintosh PowerPoint</Application>
  <PresentationFormat>Custom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Vyanktesh Shimpi</cp:lastModifiedBy>
  <cp:revision>1</cp:revision>
  <dcterms:created xsi:type="dcterms:W3CDTF">2013-01-27T09:14:16Z</dcterms:created>
  <dcterms:modified xsi:type="dcterms:W3CDTF">2026-04-12T05:47:05Z</dcterms:modified>
  <cp:category/>
</cp:coreProperties>
</file>